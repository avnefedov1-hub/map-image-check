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Segoe UI"/>
              </a:rPr>
              <a:t>Map Image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0">
                <a:solidFill>
                  <a:srgbClr val="93C5FD"/>
                </a:solidFill>
                <a:latin typeface="Segoe UI"/>
              </a:rPr>
              <a:t>Архитектура и приложение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475569"/>
                </a:solidFill>
                <a:latin typeface="Segoe UI"/>
              </a:rPr>
              <a:t>Версия 1.1.0  •  av_nefedov  •  Python / Tkinter / OpenCV / SQLite / Ollama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egoe UI"/>
              </a:rPr>
              <a:t>Назначение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DBEAFE"/>
                </a:solidFill>
                <a:latin typeface="Segoe UI"/>
              </a:rPr>
              <a:t>Зачем нужно приложение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Segoe UI"/>
              </a:rPr>
              <a:t>Автоматический поиск изображений топографических и terrain-карт на дисках и в сети.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Segoe UI"/>
              </a:rPr>
              <a:t>Снижение ручного просмотра тысяч файлов за счёт гибридной классификации.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Segoe UI"/>
              </a:rPr>
              <a:t>Централизованное хранение найденных карт в SQLite с предпросмотром и метаданными.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Segoe UI"/>
              </a:rPr>
              <a:t>Поддержка локальных дисков, папок, компьютеров Active Directory (UNC C$, D$).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Segoe UI"/>
              </a:rPr>
              <a:t>Дообучение ML-модели по пользовательским меткам «карта / не карта».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egoe UI"/>
              </a:rPr>
              <a:t>Ключевые возможности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DBEAFE"/>
                </a:solidFill>
                <a:latin typeface="Segoe UI"/>
              </a:rPr>
              <a:t>Что умеет Map Image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Segoe UI"/>
              </a:rPr>
              <a:t>Сканирование с пропуском уже известных путей в базе данных.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Segoe UI"/>
              </a:rPr>
              <a:t>Гибридный пайплайн: эвристика OpenCV → ML → LLM (серая зона).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Segoe UI"/>
              </a:rPr>
              <a:t>Просмотр базы с фильтрами по компьютеру, ML-оценке и LLM-вердикту.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Segoe UI"/>
              </a:rPr>
              <a:t>Подробный LLM-анализ на русском через Ollama (одиночный и пакетный).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Segoe UI"/>
              </a:rPr>
              <a:t>Экспорт CSV, горячие клавиши, светлая/тёмная тема интерфейса.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egoe UI"/>
              </a:rPr>
              <a:t>Архитектура (верхний уровень)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DBEAFE"/>
                </a:solidFill>
                <a:latin typeface="Segoe UI"/>
              </a:rPr>
              <a:t>Слои приложения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11155680" cy="5029200"/>
          </a:xfrm>
          <a:prstGeom prst="rect">
            <a:avLst/>
          </a:prstGeom>
          <a:solidFill>
            <a:srgbClr val="F1F5F9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F172A"/>
                </a:solidFill>
                <a:latin typeface="Consolas"/>
              </a:rPr>
              <a:t>┌─────────────────────────────────────────────────────────────┐</a:t>
            </a:r>
          </a:p>
          <a:p>
            <a:r>
              <a:rPr sz="1400" b="0">
                <a:solidFill>
                  <a:srgbClr val="0F172A"/>
                </a:solidFill>
                <a:latin typeface="Consolas"/>
              </a:rPr>
              <a:t>│  GUI (Tkinter)          gui_app.py  +  search_settings_dialog│</a:t>
            </a:r>
          </a:p>
          <a:p>
            <a:r>
              <a:rPr sz="1400" b="0">
                <a:solidFill>
                  <a:srgbClr val="0F172A"/>
                </a:solidFill>
                <a:latin typeface="Consolas"/>
              </a:rPr>
              <a:t>└───────────────────────────────┬─────────────────────────────┘</a:t>
            </a:r>
          </a:p>
          <a:p>
            <a:r>
              <a:rPr sz="1400" b="0">
                <a:solidFill>
                  <a:srgbClr val="0F172A"/>
                </a:solidFill>
                <a:latin typeface="Consolas"/>
              </a:rPr>
              <a:t>                                │</a:t>
            </a:r>
          </a:p>
          <a:p>
            <a:r>
              <a:rPr sz="1400" b="0">
                <a:solidFill>
                  <a:srgbClr val="0F172A"/>
                </a:solidFill>
                <a:latin typeface="Consolas"/>
              </a:rPr>
              <a:t>        ┌───────────────────────┼───────────────────────┐</a:t>
            </a:r>
          </a:p>
          <a:p>
            <a:r>
              <a:rPr sz="1400" b="0">
                <a:solidFill>
                  <a:srgbClr val="0F172A"/>
                </a:solidFill>
                <a:latin typeface="Consolas"/>
              </a:rPr>
              <a:t>        ▼                       ▼                       ▼</a:t>
            </a:r>
          </a:p>
          <a:p>
            <a:r>
              <a:rPr sz="1400" b="0">
                <a:solidFill>
                  <a:srgbClr val="0F172A"/>
                </a:solidFill>
                <a:latin typeface="Consolas"/>
              </a:rPr>
              <a:t>┌───────────────┐     ┌─────────────────┐     ┌─────────────────┐</a:t>
            </a:r>
          </a:p>
          <a:p>
            <a:r>
              <a:rPr sz="1400" b="0">
                <a:solidFill>
                  <a:srgbClr val="0F172A"/>
                </a:solidFill>
                <a:latin typeface="Consolas"/>
              </a:rPr>
              <a:t>│ scan_drives   │     │ hybrid_pipeline │     │  llm_analysis   │</a:t>
            </a:r>
          </a:p>
          <a:p>
            <a:r>
              <a:rPr sz="1400" b="0">
                <a:solidFill>
                  <a:srgbClr val="0F172A"/>
                </a:solidFill>
                <a:latin typeface="Consolas"/>
              </a:rPr>
              <a:t>│ ad_remote     │────▶│ + detector      │────▶│  (Ollama API)   │</a:t>
            </a:r>
          </a:p>
          <a:p>
            <a:r>
              <a:rPr sz="1400" b="0">
                <a:solidFill>
                  <a:srgbClr val="0F172A"/>
                </a:solidFill>
                <a:latin typeface="Consolas"/>
              </a:rPr>
              <a:t>└───────────────┘     │ + ml_classifier │     └────────┬────────┘</a:t>
            </a:r>
          </a:p>
          <a:p>
            <a:r>
              <a:rPr sz="1400" b="0">
                <a:solidFill>
                  <a:srgbClr val="0F172A"/>
                </a:solidFill>
                <a:latin typeface="Consolas"/>
              </a:rPr>
              <a:t>                      └────────┬────────┘              │</a:t>
            </a:r>
          </a:p>
          <a:p>
            <a:r>
              <a:rPr sz="1400" b="0">
                <a:solidFill>
                  <a:srgbClr val="0F172A"/>
                </a:solidFill>
                <a:latin typeface="Consolas"/>
              </a:rPr>
              <a:t>                               ▼                         │</a:t>
            </a:r>
          </a:p>
          <a:p>
            <a:r>
              <a:rPr sz="1400" b="0">
                <a:solidFill>
                  <a:srgbClr val="0F172A"/>
                </a:solidFill>
                <a:latin typeface="Consolas"/>
              </a:rPr>
              <a:t>                      ┌─────────────────┐              │</a:t>
            </a:r>
          </a:p>
          <a:p>
            <a:r>
              <a:rPr sz="1400" b="0">
                <a:solidFill>
                  <a:srgbClr val="0F172A"/>
                </a:solidFill>
                <a:latin typeface="Consolas"/>
              </a:rPr>
              <a:t>                      │   image_store   │◀─────────────┘</a:t>
            </a:r>
          </a:p>
          <a:p>
            <a:r>
              <a:rPr sz="1400" b="0">
                <a:solidFill>
                  <a:srgbClr val="0F172A"/>
                </a:solidFill>
                <a:latin typeface="Consolas"/>
              </a:rPr>
              <a:t>                      │   (SQLite ORM)  │</a:t>
            </a:r>
          </a:p>
          <a:p>
            <a:r>
              <a:rPr sz="1400" b="0">
                <a:solidFill>
                  <a:srgbClr val="0F172A"/>
                </a:solidFill>
                <a:latin typeface="Consolas"/>
              </a:rPr>
              <a:t>                      └────────┬────────┘</a:t>
            </a:r>
          </a:p>
          <a:p>
            <a:r>
              <a:rPr sz="1400" b="0">
                <a:solidFill>
                  <a:srgbClr val="0F172A"/>
                </a:solidFill>
                <a:latin typeface="Consolas"/>
              </a:rPr>
              <a:t>                               ▼</a:t>
            </a:r>
          </a:p>
          <a:p>
            <a:r>
              <a:rPr sz="1400" b="0">
                <a:solidFill>
                  <a:srgbClr val="0F172A"/>
                </a:solidFill>
                <a:latin typeface="Consolas"/>
              </a:rPr>
              <a:t>                      map_image_check.sqlite3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egoe UI"/>
              </a:rPr>
              <a:t>Модули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DBEAFE"/>
                </a:solidFill>
                <a:latin typeface="Segoe UI"/>
              </a:rPr>
              <a:t>Ответственность компонентов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Segoe UI"/>
              </a:rPr>
              <a:t>gui_app — главное окно, потоки сканирования/LLM, очередь событий GUI.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Segoe UI"/>
              </a:rPr>
              <a:t>scan_drives — обход файловой системы, фильтры размера, CLI-сканер.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Segoe UI"/>
              </a:rPr>
              <a:t>ad_remote — список компьютеров AD, проверка online, сбор UNC-путей.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Segoe UI"/>
              </a:rPr>
              <a:t>detector — извлечение 10 признаков OpenCV, эвристический score.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Segoe UI"/>
              </a:rPr>
              <a:t>ml_classifier — LogisticRegression + StandardScaler, joblib-модель.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Segoe UI"/>
              </a:rPr>
              <a:t>hybrid_pipeline — оркестрация этапов и HybridDecision.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Segoe UI"/>
              </a:rPr>
              <a:t>llm_analysis — Ollama /api/chat, yes/no и подробный анализ.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Segoe UI"/>
              </a:rPr>
              <a:t>image_store — CRUD, индекс путей, метки пользователя, фильтры БД.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egoe UI"/>
              </a:rPr>
              <a:t>Поток данных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DBEAFE"/>
                </a:solidFill>
                <a:latin typeface="Segoe UI"/>
              </a:rPr>
              <a:t>От сканирования до базы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11155680" cy="5029200"/>
          </a:xfrm>
          <a:prstGeom prst="rect">
            <a:avLst/>
          </a:prstGeom>
          <a:solidFill>
            <a:srgbClr val="F1F5F9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F172A"/>
                </a:solidFill>
                <a:latin typeface="Consolas"/>
              </a:rPr>
              <a:t>Пользователь → Выбор источников (диски / папки / AD)</a:t>
            </a:r>
          </a:p>
          <a:p>
            <a:r>
              <a:rPr sz="1400" b="0">
                <a:solidFill>
                  <a:srgbClr val="0F172A"/>
                </a:solidFill>
                <a:latin typeface="Consolas"/>
              </a:rPr>
              <a:t>      │</a:t>
            </a:r>
          </a:p>
          <a:p>
            <a:r>
              <a:rPr sz="1400" b="0">
                <a:solidFill>
                  <a:srgbClr val="0F172A"/>
                </a:solidFill>
                <a:latin typeface="Consolas"/>
              </a:rPr>
              <a:t>      ▼</a:t>
            </a:r>
          </a:p>
          <a:p>
            <a:r>
              <a:rPr sz="1400" b="0">
                <a:solidFill>
                  <a:srgbClr val="0F172A"/>
                </a:solidFill>
                <a:latin typeface="Consolas"/>
              </a:rPr>
              <a:t>_walk_images → фильтр размера → уже в БД? → пропуск</a:t>
            </a:r>
          </a:p>
          <a:p>
            <a:r>
              <a:rPr sz="1400" b="0">
                <a:solidFill>
                  <a:srgbClr val="0F172A"/>
                </a:solidFill>
                <a:latin typeface="Consolas"/>
              </a:rPr>
              <a:t>      │</a:t>
            </a:r>
          </a:p>
          <a:p>
            <a:r>
              <a:rPr sz="1400" b="0">
                <a:solidFill>
                  <a:srgbClr val="0F172A"/>
                </a:solidFill>
                <a:latin typeface="Consolas"/>
              </a:rPr>
              <a:t>      ▼</a:t>
            </a:r>
          </a:p>
          <a:p>
            <a:r>
              <a:rPr sz="1400" b="0">
                <a:solidFill>
                  <a:srgbClr val="0F172A"/>
                </a:solidFill>
                <a:latin typeface="Consolas"/>
              </a:rPr>
              <a:t>classify_image_path (эвристика → ML → LLM?)</a:t>
            </a:r>
          </a:p>
          <a:p>
            <a:r>
              <a:rPr sz="1400" b="0">
                <a:solidFill>
                  <a:srgbClr val="0F172A"/>
                </a:solidFill>
                <a:latin typeface="Consolas"/>
              </a:rPr>
              <a:t>      │</a:t>
            </a:r>
          </a:p>
          <a:p>
            <a:r>
              <a:rPr sz="1400" b="0">
                <a:solidFill>
                  <a:srgbClr val="0F172A"/>
                </a:solidFill>
                <a:latin typeface="Consolas"/>
              </a:rPr>
              <a:t>      ├── не карта → следующий файл</a:t>
            </a:r>
          </a:p>
          <a:p>
            <a:r>
              <a:rPr sz="1400" b="0">
                <a:solidFill>
                  <a:srgbClr val="0F172A"/>
                </a:solidFill>
                <a:latin typeface="Consolas"/>
              </a:rPr>
              <a:t>      │</a:t>
            </a:r>
          </a:p>
          <a:p>
            <a:r>
              <a:rPr sz="1400" b="0">
                <a:solidFill>
                  <a:srgbClr val="0F172A"/>
                </a:solidFill>
                <a:latin typeface="Consolas"/>
              </a:rPr>
              <a:t>      └── карта → save_detected_image</a:t>
            </a:r>
          </a:p>
          <a:p>
            <a:r>
              <a:rPr sz="1400" b="0">
                <a:solidFill>
                  <a:srgbClr val="0F172A"/>
                </a:solidFill>
                <a:latin typeface="Consolas"/>
              </a:rPr>
              <a:t>                    ├── images (JPEG BLOB)</a:t>
            </a:r>
          </a:p>
          <a:p>
            <a:r>
              <a:rPr sz="1400" b="0">
                <a:solidFill>
                  <a:srgbClr val="0F172A"/>
                </a:solidFill>
                <a:latin typeface="Consolas"/>
              </a:rPr>
              <a:t>                    └── heuristic_results (score, features)</a:t>
            </a:r>
          </a:p>
          <a:p>
            <a:r>
              <a:rPr sz="1400" b="0">
                <a:solidFill>
                  <a:srgbClr val="0F172A"/>
                </a:solidFill>
                <a:latin typeface="Consolas"/>
              </a:rPr>
              <a:t>      │</a:t>
            </a:r>
          </a:p>
          <a:p>
            <a:r>
              <a:rPr sz="1400" b="0">
                <a:solidFill>
                  <a:srgbClr val="0F172A"/>
                </a:solidFill>
                <a:latin typeface="Consolas"/>
              </a:rPr>
              <a:t>      ▼ (опционально)</a:t>
            </a:r>
          </a:p>
          <a:p>
            <a:r>
              <a:rPr sz="1400" b="0">
                <a:solidFill>
                  <a:srgbClr val="0F172A"/>
                </a:solidFill>
                <a:latin typeface="Consolas"/>
              </a:rPr>
              <a:t>LLM серая зона / пакетный анализ → llm_results</a:t>
            </a:r>
          </a:p>
          <a:p>
            <a:r>
              <a:rPr sz="1400" b="0">
                <a:solidFill>
                  <a:srgbClr val="0F172A"/>
                </a:solidFill>
                <a:latin typeface="Consolas"/>
              </a:rPr>
              <a:t>      │</a:t>
            </a:r>
          </a:p>
          <a:p>
            <a:r>
              <a:rPr sz="1400" b="0">
                <a:solidFill>
                  <a:srgbClr val="0F172A"/>
                </a:solidFill>
                <a:latin typeface="Consolas"/>
              </a:rPr>
              <a:t>      ▼</a:t>
            </a:r>
          </a:p>
          <a:p>
            <a:r>
              <a:rPr sz="1400" b="0">
                <a:solidFill>
                  <a:srgbClr val="0F172A"/>
                </a:solidFill>
                <a:latin typeface="Consolas"/>
              </a:rPr>
              <a:t>GUI: список карт, предпросмотр, фильтры, метки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egoe UI"/>
              </a:rPr>
              <a:t>Гибридный пайплайн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DBEAFE"/>
                </a:solidFill>
                <a:latin typeface="Segoe UI"/>
              </a:rPr>
              <a:t>classify_image_path() — hybrid_pipeline.py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11155680" cy="5029200"/>
          </a:xfrm>
          <a:prstGeom prst="rect">
            <a:avLst/>
          </a:prstGeom>
          <a:solidFill>
            <a:srgbClr val="F1F5F9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F172A"/>
                </a:solidFill>
                <a:latin typeface="Consolas"/>
              </a:rPr>
              <a:t>Эвристика OpenCV (10 признаков, score 0..1)</a:t>
            </a:r>
          </a:p>
          <a:p>
            <a:r>
              <a:rPr sz="1400" b="0">
                <a:solidFill>
                  <a:srgbClr val="0F172A"/>
                </a:solidFill>
                <a:latin typeface="Consolas"/>
              </a:rPr>
              <a:t>      │</a:t>
            </a:r>
          </a:p>
          <a:p>
            <a:r>
              <a:rPr sz="1400" b="0">
                <a:solidFill>
                  <a:srgbClr val="0F172A"/>
                </a:solidFill>
                <a:latin typeface="Consolas"/>
              </a:rPr>
              <a:t>      ├─ score &lt; T_low (0.30) ──────────────▶ ОТКЛОНИТЬ</a:t>
            </a:r>
          </a:p>
          <a:p>
            <a:r>
              <a:rPr sz="1400" b="0">
                <a:solidFill>
                  <a:srgbClr val="0F172A"/>
                </a:solidFill>
                <a:latin typeface="Consolas"/>
              </a:rPr>
              <a:t>      │</a:t>
            </a:r>
          </a:p>
          <a:p>
            <a:r>
              <a:rPr sz="1400" b="0">
                <a:solidFill>
                  <a:srgbClr val="0F172A"/>
                </a:solidFill>
                <a:latin typeface="Consolas"/>
              </a:rPr>
              <a:t>      ▼ ML-модель обучена?</a:t>
            </a:r>
          </a:p>
          <a:p>
            <a:r>
              <a:rPr sz="1400" b="0">
                <a:solidFill>
                  <a:srgbClr val="0F172A"/>
                </a:solidFill>
                <a:latin typeface="Consolas"/>
              </a:rPr>
              <a:t>      ├─ ml_score ≥ T_accept (0.65) ───────▶ ПРИНЯТЬ (карта)</a:t>
            </a:r>
          </a:p>
          <a:p>
            <a:r>
              <a:rPr sz="1400" b="0">
                <a:solidFill>
                  <a:srgbClr val="0F172A"/>
                </a:solidFill>
                <a:latin typeface="Consolas"/>
              </a:rPr>
              <a:t>      ├─ ml_score ≤ T_reject (0.35) ───────▶ ОТКЛОНИТЬ</a:t>
            </a:r>
          </a:p>
          <a:p>
            <a:r>
              <a:rPr sz="1400" b="0">
                <a:solidFill>
                  <a:srgbClr val="0F172A"/>
                </a:solidFill>
                <a:latin typeface="Consolas"/>
              </a:rPr>
              <a:t>      │</a:t>
            </a:r>
          </a:p>
          <a:p>
            <a:r>
              <a:rPr sz="1400" b="0">
                <a:solidFill>
                  <a:srgbClr val="0F172A"/>
                </a:solidFill>
                <a:latin typeface="Consolas"/>
              </a:rPr>
              <a:t>      ▼ Серая зона (между порогами)</a:t>
            </a:r>
          </a:p>
          <a:p>
            <a:r>
              <a:rPr sz="1400" b="0">
                <a:solidFill>
                  <a:srgbClr val="0F172A"/>
                </a:solidFill>
                <a:latin typeface="Consolas"/>
              </a:rPr>
              <a:t>      ├─ LLM включён → yes/no Ollama ──────▶ вердикт LLM</a:t>
            </a:r>
          </a:p>
          <a:p>
            <a:r>
              <a:rPr sz="1400" b="0">
                <a:solidFill>
                  <a:srgbClr val="0F172A"/>
                </a:solidFill>
                <a:latin typeface="Consolas"/>
              </a:rPr>
              <a:t>      └─ LLM выключен ─────────────────────▶ ОТКЛОНИТЬ</a:t>
            </a:r>
          </a:p>
          <a:p>
            <a:r>
              <a:rPr sz="1400" b="0">
                <a:solidFill>
                  <a:srgbClr val="0F172A"/>
                </a:solidFill>
                <a:latin typeface="Consolas"/>
              </a:rPr>
              <a:t/>
            </a:r>
          </a:p>
          <a:p>
            <a:r>
              <a:rPr sz="1400" b="0">
                <a:solidFill>
                  <a:srgbClr val="0F172A"/>
                </a:solidFill>
                <a:latin typeface="Consolas"/>
              </a:rPr>
              <a:t>Fallback без ML: score ≥ 0.45 (MAP_SCORE_THRESHOLD)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egoe UI"/>
              </a:rPr>
              <a:t>Эвристика и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DBEAFE"/>
                </a:solidFill>
                <a:latin typeface="Segoe UI"/>
              </a:rPr>
              <a:t>detector.py + ml_classifier.py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Segoe UI"/>
              </a:rPr>
              <a:t>Признаки: плотность контуров/рёбер, энтропия цвета, прямые линии, «земляные» тона и др.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Segoe UI"/>
              </a:rPr>
              <a:t>Версия детектора: heuristic-v2; порог по умолчанию — 0.45.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Segoe UI"/>
              </a:rPr>
              <a:t>ML: StandardScaler + LogisticRegression, сохранение в map_classifier.joblib.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Segoe UI"/>
              </a:rPr>
              <a:t>Обучение: минимум 8 образцов на класс; hold-out accuracy при ≥ 20 метках.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Segoe UI"/>
              </a:rPr>
              <a:t>Метки пользователя хранятся в user_labels и используются для переобучения.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egoe UI"/>
              </a:rPr>
              <a:t>LLM-анализ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DBEAFE"/>
                </a:solidFill>
                <a:latin typeface="Segoe UI"/>
              </a:rPr>
              <a:t>llm_analysis.py + Ollama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Segoe UI"/>
              </a:rPr>
              <a:t>Модель по умолчанию: qwen2.5vl:7b (vision); endpoint: http://127.0.0.1:11434.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Segoe UI"/>
              </a:rPr>
              <a:t>Быстрый yes/no — серая зона при скане (статус gray_zone в БД).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Segoe UI"/>
              </a:rPr>
              <a:t>Подробный анализ на русском — вкладка «LLM-анализ» (статус completed).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Segoe UI"/>
              </a:rPr>
              <a:t>Пакетный режим: «Проанализировать все в БД» с прогресс-баром.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Segoe UI"/>
              </a:rPr>
              <a:t>Поле is_topographic_map — отдельный вердикт «топографическая карта: да/нет».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Segoe UI"/>
              </a:rPr>
              <a:t>Фильтры в базе: LLM: карта / не карта / не проверено.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egoe UI"/>
              </a:rPr>
              <a:t>Схема базы данных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DBEAFE"/>
                </a:solidFill>
                <a:latin typeface="Segoe UI"/>
              </a:rPr>
              <a:t>SQLite — map_image_check.sqlite3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11155680" cy="5029200"/>
          </a:xfrm>
          <a:prstGeom prst="rect">
            <a:avLst/>
          </a:prstGeom>
          <a:solidFill>
            <a:srgbClr val="F1F5F9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F172A"/>
                </a:solidFill>
                <a:latin typeface="Consolas"/>
              </a:rPr>
              <a:t>images                          heuristic_results</a:t>
            </a:r>
          </a:p>
          <a:p>
            <a:r>
              <a:rPr sz="1400" b="0">
                <a:solidFill>
                  <a:srgbClr val="0F172A"/>
                </a:solidFill>
                <a:latin typeface="Consolas"/>
              </a:rPr>
              <a:t>├── id (PK)                     ├── image_id (PK, FK)</a:t>
            </a:r>
          </a:p>
          <a:p>
            <a:r>
              <a:rPr sz="1400" b="0">
                <a:solidFill>
                  <a:srgbClr val="0F172A"/>
                </a:solidFill>
                <a:latin typeface="Consolas"/>
              </a:rPr>
              <a:t>├── source_path, source_host    ├── is_map, score, threshold</a:t>
            </a:r>
          </a:p>
          <a:p>
            <a:r>
              <a:rPr sz="1400" b="0">
                <a:solidFill>
                  <a:srgbClr val="0F172A"/>
                </a:solidFill>
                <a:latin typeface="Consolas"/>
              </a:rPr>
              <a:t>├── scan_scope                  ├── detector_version</a:t>
            </a:r>
          </a:p>
          <a:p>
            <a:r>
              <a:rPr sz="1400" b="0">
                <a:solidFill>
                  <a:srgbClr val="0F172A"/>
                </a:solidFill>
                <a:latin typeface="Consolas"/>
              </a:rPr>
              <a:t>├── image_bytes (JPEG BLOB)     └── summary_features_json</a:t>
            </a:r>
          </a:p>
          <a:p>
            <a:r>
              <a:rPr sz="1400" b="0">
                <a:solidFill>
                  <a:srgbClr val="0F172A"/>
                </a:solidFill>
                <a:latin typeface="Consolas"/>
              </a:rPr>
              <a:t>├── sha256 (UNIQUE)                    (features, ml_score, decision_source)</a:t>
            </a:r>
          </a:p>
          <a:p>
            <a:r>
              <a:rPr sz="1400" b="0">
                <a:solidFill>
                  <a:srgbClr val="0F172A"/>
                </a:solidFill>
                <a:latin typeface="Consolas"/>
              </a:rPr>
              <a:t>└── width, height</a:t>
            </a:r>
          </a:p>
          <a:p>
            <a:r>
              <a:rPr sz="1400" b="0">
                <a:solidFill>
                  <a:srgbClr val="0F172A"/>
                </a:solidFill>
                <a:latin typeface="Consolas"/>
              </a:rPr>
              <a:t/>
            </a:r>
          </a:p>
          <a:p>
            <a:r>
              <a:rPr sz="1400" b="0">
                <a:solidFill>
                  <a:srgbClr val="0F172A"/>
                </a:solidFill>
                <a:latin typeface="Consolas"/>
              </a:rPr>
              <a:t>llm_results                     user_labels</a:t>
            </a:r>
          </a:p>
          <a:p>
            <a:r>
              <a:rPr sz="1400" b="0">
                <a:solidFill>
                  <a:srgbClr val="0F172A"/>
                </a:solidFill>
                <a:latin typeface="Consolas"/>
              </a:rPr>
              <a:t>├── image_id (PK, FK)           ├── sha256 (UNIQUE)</a:t>
            </a:r>
          </a:p>
          <a:p>
            <a:r>
              <a:rPr sz="1400" b="0">
                <a:solidFill>
                  <a:srgbClr val="0F172A"/>
                </a:solidFill>
                <a:latin typeface="Consolas"/>
              </a:rPr>
              <a:t>├── status (completed/          ├── label (0/1)</a:t>
            </a:r>
          </a:p>
          <a:p>
            <a:r>
              <a:rPr sz="1400" b="0">
                <a:solidFill>
                  <a:srgbClr val="0F172A"/>
                </a:solidFill>
                <a:latin typeface="Consolas"/>
              </a:rPr>
              <a:t>│   gray_zone/failed)           └── features_json</a:t>
            </a:r>
          </a:p>
          <a:p>
            <a:r>
              <a:rPr sz="1400" b="0">
                <a:solidFill>
                  <a:srgbClr val="0F172A"/>
                </a:solidFill>
                <a:latin typeface="Consolas"/>
              </a:rPr>
              <a:t>├── model_name, analysis_text</a:t>
            </a:r>
          </a:p>
          <a:p>
            <a:r>
              <a:rPr sz="1400" b="0">
                <a:solidFill>
                  <a:srgbClr val="0F172A"/>
                </a:solidFill>
                <a:latin typeface="Consolas"/>
              </a:rPr>
              <a:t>├── is_topographic_map</a:t>
            </a:r>
          </a:p>
          <a:p>
            <a:r>
              <a:rPr sz="1400" b="0">
                <a:solidFill>
                  <a:srgbClr val="0F172A"/>
                </a:solidFill>
                <a:latin typeface="Consolas"/>
              </a:rPr>
              <a:t>└── structured_json</a:t>
            </a:r>
          </a:p>
          <a:p>
            <a:r>
              <a:rPr sz="1400" b="0">
                <a:solidFill>
                  <a:srgbClr val="0F172A"/>
                </a:solidFill>
                <a:latin typeface="Consolas"/>
              </a:rPr>
              <a:t/>
            </a:r>
          </a:p>
          <a:p>
            <a:r>
              <a:rPr sz="1400" b="0">
                <a:solidFill>
                  <a:srgbClr val="0F172A"/>
                </a:solidFill>
                <a:latin typeface="Consolas"/>
              </a:rPr>
              <a:t>Лимит BLOB: 50 MiB; JPEG, long side ≤ 2048 px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egoe UI"/>
              </a:rPr>
              <a:t>Удалённое сканирование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DBEAFE"/>
                </a:solidFill>
                <a:latin typeface="Segoe UI"/>
              </a:rPr>
              <a:t>ad_remote.py — Active Directory и UNC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Segoe UI"/>
              </a:rPr>
              <a:t>Загрузка списка компьютеров из AD (PowerShell / LDAP).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Segoe UI"/>
              </a:rPr>
              <a:t>Проверка доступности: SMB (порт 445) и ping, до 24 параллельных проверок.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Segoe UI"/>
              </a:rPr>
              <a:t>Формирование UNC-путей: \\COMPUTER\C$, \\COMPUTER\D$ и др.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Segoe UI"/>
              </a:rPr>
              <a:t>Различение серверов и рабочих станций (AdComputerRecord.is_server).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Segoe UI"/>
              </a:rPr>
              <a:t>Пользователь выбирает компьютеры и шары в настройках сканирования.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Segoe UI"/>
              </a:rPr>
              <a:t>source_host в БД сохраняет имя удалённого компьютера для фильтрации.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egoe UI"/>
              </a:rPr>
              <a:t>GUI и сценарии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DBEAFE"/>
                </a:solidFill>
                <a:latin typeface="Segoe UI"/>
              </a:rPr>
              <a:t>MapScannerGui — gui_app.py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Segoe UI"/>
              </a:rPr>
              <a:t>Сканирование: выбор режима → фоновый поток → список найденных карт.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Segoe UI"/>
              </a:rPr>
              <a:t>База данных (Ctrl+B): фильтры по хосту, ML %, LLM-вердикту.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Segoe UI"/>
              </a:rPr>
              <a:t>Детали: предпросмотр, классификация, метки, вкладка LLM-анализ.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Segoe UI"/>
              </a:rPr>
              <a:t>Настройки (Ctrl+): пороги T_low/T_accept/T_reject, LLM, тема.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Segoe UI"/>
              </a:rPr>
              <a:t>Delete — удаление записи из БД (файл на диске не трогается).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egoe UI"/>
              </a:rPr>
              <a:t>Технологический стек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DBEAFE"/>
                </a:solidFill>
                <a:latin typeface="Segoe UI"/>
              </a:rPr>
              <a:t>Зависимости и платформа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Segoe UI"/>
              </a:rPr>
              <a:t>Python 3.10+, Windows (UNC, AD, GUI).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Segoe UI"/>
              </a:rPr>
              <a:t>Tkinter / ttk — интерфейс; threading + queue — фоновые задачи.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Segoe UI"/>
              </a:rPr>
              <a:t>OpenCV (headless) + NumPy — обработка изображений.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Segoe UI"/>
              </a:rPr>
              <a:t>scikit-learn + joblib — ML-модель.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Segoe UI"/>
              </a:rPr>
              <a:t>SQLite (stdlib) — персистентность.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Segoe UI"/>
              </a:rPr>
              <a:t>Ollama REST API — локальный LLM с поддержкой vision.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Segoe UI"/>
              </a:rPr>
              <a:t>PowerShell / LDAP — интеграция с Active Directory.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egoe UI"/>
              </a:rPr>
              <a:t>Развёртывание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DBEAFE"/>
                </a:solidFill>
                <a:latin typeface="Segoe UI"/>
              </a:rPr>
              <a:t>Запуск, тесты, сборка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Segoe UI"/>
              </a:rPr>
              <a:t>pip install -r map_image_check/requirements.txt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Segoe UI"/>
              </a:rPr>
              <a:t>python -m map_image_check.gui_app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Segoe UI"/>
              </a:rPr>
              <a:t>Тесты: python -m unittest discover -s map_image_check -p test_*.py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Segoe UI"/>
              </a:rPr>
              <a:t>Артефакты: map_image_check.sqlite3, map_classifier.joblib (gitignore).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Segoe UI"/>
              </a:rPr>
              <a:t>Сборка: PyInstaller (MapImageCheck.spec), Inno Setup installer.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Segoe UI"/>
              </a:rPr>
              <a:t>Репозиторий: github.com/avnefedov1-hub/map-image-check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egoe UI"/>
              </a:rPr>
              <a:t>Итог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DBEAFE"/>
                </a:solidFill>
                <a:latin typeface="Segoe UI"/>
              </a:rPr>
              <a:t>Map Image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789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</a:pPr>
            <a:r>
              <a:rPr sz="2200" b="0">
                <a:solidFill>
                  <a:srgbClr val="0F172A"/>
                </a:solidFill>
                <a:latin typeface="Segoe UI"/>
              </a:rPr>
              <a:t>Многоуровневая классификация снижает нагрузку на LLM и ускоряет скан.</a:t>
            </a:r>
          </a:p>
          <a:p>
            <a:pPr algn="ctr">
              <a:spcAft>
                <a:spcPts val="1600"/>
              </a:spcAft>
            </a:pPr>
            <a:r>
              <a:rPr sz="2200" b="0">
                <a:solidFill>
                  <a:srgbClr val="0F172A"/>
                </a:solidFill>
                <a:latin typeface="Segoe UI"/>
              </a:rPr>
              <a:t>SQLite даёт единый каталог карт с фильтрами и повторным использованием.</a:t>
            </a:r>
          </a:p>
          <a:p>
            <a:pPr algn="ctr">
              <a:spcAft>
                <a:spcPts val="1600"/>
              </a:spcAft>
            </a:pPr>
            <a:r>
              <a:rPr sz="2200" b="0">
                <a:solidFill>
                  <a:srgbClr val="0F172A"/>
                </a:solidFill>
                <a:latin typeface="Segoe UI"/>
              </a:rPr>
              <a:t>ML + пользовательские метки адаптируют систему под ваши данные.</a:t>
            </a:r>
          </a:p>
          <a:p>
            <a:pPr algn="ctr">
              <a:spcAft>
                <a:spcPts val="1600"/>
              </a:spcAft>
            </a:pPr>
            <a:r>
              <a:rPr sz="2200" b="0">
                <a:solidFill>
                  <a:srgbClr val="0F172A"/>
                </a:solidFill>
                <a:latin typeface="Segoe UI"/>
              </a:rPr>
              <a:t>Ollama добавляет объяснимый анализ на русском для спорных случаев.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